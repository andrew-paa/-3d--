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svg" ContentType="image/sv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Barlow Medium"/>
      <p:regular r:id="rId19"/>
    </p:embeddedFont>
    <p:embeddedFont>
      <p:font typeface="Barlow"/>
      <p:regular r:id="rId20"/>
    </p:embeddedFont>
  </p:embeddedFontLst>
  <p:custDataLst>
    <p:tags r:id="rId18"/>
  </p:custDataLst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tags" Target="tags/tag1.xml" /><Relationship Id="rId19" Type="http://schemas.openxmlformats.org/officeDocument/2006/relationships/font" Target="fonts/font1.fntdata" /><Relationship Id="rId2" Type="http://schemas.openxmlformats.org/officeDocument/2006/relationships/notesMaster" Target="notesMasters/notesMaster1.xml" /><Relationship Id="rId20" Type="http://schemas.openxmlformats.org/officeDocument/2006/relationships/font" Target="fonts/font5.fntdata" /><Relationship Id="rId21" Type="http://schemas.openxmlformats.org/officeDocument/2006/relationships/presProps" Target="presProps.xml" /><Relationship Id="rId22" Type="http://schemas.openxmlformats.org/officeDocument/2006/relationships/viewProps" Target="viewProps.xml" /><Relationship Id="rId23" Type="http://schemas.openxmlformats.org/officeDocument/2006/relationships/font" Target="fonts/font2.fntdata" /><Relationship Id="rId24" Type="http://schemas.openxmlformats.org/officeDocument/2006/relationships/font" Target="fonts/font3.fntdata" /><Relationship Id="rId25" Type="http://schemas.openxmlformats.org/officeDocument/2006/relationships/font" Target="fonts/font4.fntdata" /><Relationship Id="rId26" Type="http://schemas.openxmlformats.org/officeDocument/2006/relationships/theme" Target="theme/theme1.xml" /><Relationship Id="rId27" Type="http://schemas.openxmlformats.org/officeDocument/2006/relationships/font" Target="fonts/font6.fntdata" /><Relationship Id="rId28" Type="http://schemas.openxmlformats.org/officeDocument/2006/relationships/font" Target="fonts/font7.fntdata" /><Relationship Id="rId29" Type="http://schemas.openxmlformats.org/officeDocument/2006/relationships/font" Target="fonts/font8.fntdata" /><Relationship Id="rId3" Type="http://schemas.openxmlformats.org/officeDocument/2006/relationships/slide" Target="slides/slide1.xml" /><Relationship Id="rId30" Type="http://schemas.openxmlformats.org/officeDocument/2006/relationships/tableStyles" Target="tableStyles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1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jpeg" /><Relationship Id="rId2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jpe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jpe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jpe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jpe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jpe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jpeg" /><Relationship Id="rId2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9.jpeg" /><Relationship Id="rId2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0.jpe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1.jpeg" /><Relationship Id="rId2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2.jpe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3.jpe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4.jpe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jpe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6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7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8.jpeg" /><Relationship Id="rId4" Type="http://schemas.openxmlformats.org/officeDocument/2006/relationships/image" Target="../media/image19.svg" /><Relationship Id="rId5" Type="http://schemas.openxmlformats.org/officeDocument/2006/relationships/image" Target="../media/image20.jpeg" /><Relationship Id="rId6" Type="http://schemas.openxmlformats.org/officeDocument/2006/relationships/image" Target="../media/image21.svg" /><Relationship Id="rId7" Type="http://schemas.openxmlformats.org/officeDocument/2006/relationships/image" Target="../media/image22.jpeg" /><Relationship Id="rId8" Type="http://schemas.openxmlformats.org/officeDocument/2006/relationships/image" Target="../media/image23.sv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25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26.jpeg" /><Relationship Id="rId4" Type="http://schemas.openxmlformats.org/officeDocument/2006/relationships/image" Target="../media/image27.svg" /><Relationship Id="rId5" Type="http://schemas.openxmlformats.org/officeDocument/2006/relationships/image" Target="../media/image2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9.png" /><Relationship Id="rId4" Type="http://schemas.openxmlformats.org/officeDocument/2006/relationships/image" Target="../media/image30.png" /><Relationship Id="rId5" Type="http://schemas.openxmlformats.org/officeDocument/2006/relationships/image" Target="../media/image31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39.svg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32.jpeg" /><Relationship Id="rId4" Type="http://schemas.openxmlformats.org/officeDocument/2006/relationships/image" Target="../media/image33.svg" /><Relationship Id="rId5" Type="http://schemas.openxmlformats.org/officeDocument/2006/relationships/image" Target="../media/image34.jpeg" /><Relationship Id="rId6" Type="http://schemas.openxmlformats.org/officeDocument/2006/relationships/image" Target="../media/image35.svg" /><Relationship Id="rId7" Type="http://schemas.openxmlformats.org/officeDocument/2006/relationships/image" Target="../media/image36.jpeg" /><Relationship Id="rId8" Type="http://schemas.openxmlformats.org/officeDocument/2006/relationships/image" Target="../media/image37.svg" /><Relationship Id="rId9" Type="http://schemas.openxmlformats.org/officeDocument/2006/relationships/image" Target="../media/image38.jpe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0.jpeg" /><Relationship Id="rId4" Type="http://schemas.openxmlformats.org/officeDocument/2006/relationships/image" Target="../media/image41.jpeg" /><Relationship Id="rId5" Type="http://schemas.openxmlformats.org/officeDocument/2006/relationships/image" Target="../media/image42.jpeg" /><Relationship Id="rId6" Type="http://schemas.openxmlformats.org/officeDocument/2006/relationships/image" Target="../media/image43.jpe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9.jpeg" /><Relationship Id="rId4" Type="http://schemas.openxmlformats.org/officeDocument/2006/relationships/image" Target="../media/image50.svg" /><Relationship Id="rId5" Type="http://schemas.openxmlformats.org/officeDocument/2006/relationships/image" Target="../media/image51.png" /><Relationship Id="rId6" Type="http://schemas.openxmlformats.org/officeDocument/2006/relationships/image" Target="../media/image52.png" /><Relationship Id="rId7" Type="http://schemas.openxmlformats.org/officeDocument/2006/relationships/image" Target="../media/image53.png" /><Relationship Id="rId8" Type="http://schemas.openxmlformats.org/officeDocument/2006/relationships/image" Target="../media/image5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5.jpe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2196941"/>
            <a:ext cx="7381875" cy="2447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3D-технологии в бизнесе: инструменты импортозамещения и социальной пользы</a:t>
            </a:r>
            <a:endParaRPr lang="en-US" sz="3850"/>
          </a:p>
        </p:txBody>
      </p:sp>
      <p:sp>
        <p:nvSpPr>
          <p:cNvPr id="4" name="Text 1"/>
          <p:cNvSpPr/>
          <p:nvPr/>
        </p:nvSpPr>
        <p:spPr>
          <a:xfrm>
            <a:off x="6367462" y="4975265"/>
            <a:ext cx="7381875" cy="1057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Исследовательский проект учеников 11 класса ГБОУ Школа № 1581: Попова Андрея, Харламова Степана, Васильева Всеволода. Руководитель: Барышева Александра Дмитриевна.</a:t>
            </a:r>
            <a:endParaRPr lang="en-US" sz="1700"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881063" y="1807845"/>
            <a:ext cx="1621988" cy="414099"/>
          </a:xfrm>
          <a:prstGeom prst="roundRect">
            <a:avLst>
              <a:gd name="adj" fmla="val 17875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1013222" y="1873925"/>
            <a:ext cx="1357670" cy="28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АКТУАЛЬНОСТЬ</a:t>
            </a:r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881063" y="2310051"/>
            <a:ext cx="8035766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Вызов для российской экономики</a:t>
            </a:r>
            <a:endParaRPr lang="en-US" sz="3850"/>
          </a:p>
        </p:txBody>
      </p:sp>
      <p:sp>
        <p:nvSpPr>
          <p:cNvPr id="5" name="Shape 3"/>
          <p:cNvSpPr/>
          <p:nvPr/>
        </p:nvSpPr>
        <p:spPr>
          <a:xfrm>
            <a:off x="722471" y="3252430"/>
            <a:ext cx="6482596" cy="3169206"/>
          </a:xfrm>
          <a:prstGeom prst="roundRect">
            <a:avLst>
              <a:gd name="adj" fmla="val 5005"/>
            </a:avLst>
          </a:prstGeom>
          <a:solidFill>
            <a:srgbClr val="F65F62">
              <a:alpha val="95000"/>
            </a:srgbClr>
          </a:solidFill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942737" y="3472696"/>
            <a:ext cx="2665690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Критическая ситуация</a:t>
            </a:r>
            <a:endParaRPr lang="en-US" sz="1900"/>
          </a:p>
        </p:txBody>
      </p:sp>
      <p:sp>
        <p:nvSpPr>
          <p:cNvPr id="7" name="Text 5"/>
          <p:cNvSpPr/>
          <p:nvPr/>
        </p:nvSpPr>
        <p:spPr>
          <a:xfrm>
            <a:off x="942737" y="3998952"/>
            <a:ext cx="6042065" cy="1409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Доля импорта в промышленном оборудовании до 2022 года превышала 60%, в высокотехнологичных секторах достигала 80%. Разрыв логистических цепочек привёл к острому дефициту запчастей.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7591544" y="3472696"/>
            <a:ext cx="3003233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Последствия для бизнеса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7591544" y="3998952"/>
            <a:ext cx="6165413" cy="21148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Tx/>
              <a:buChar char="•"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Простой производственной линии обходится в среднем 50 000 рублей в час</a:t>
            </a:r>
            <a:endParaRPr lang="en-US" sz="1700"/>
          </a:p>
          <a:p>
            <a:pPr marL="342900" indent="-342900" algn="l">
              <a:lnSpc>
                <a:spcPts val="2750"/>
              </a:lnSpc>
              <a:buSzTx/>
              <a:buChar char="•"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Сроки поставки деталей увеличились с 2–3 недель до 3–6 месяцев</a:t>
            </a:r>
            <a:endParaRPr lang="en-US" sz="1700"/>
          </a:p>
          <a:p>
            <a:pPr marL="342900" indent="-342900" algn="l">
              <a:lnSpc>
                <a:spcPts val="2750"/>
              </a:lnSpc>
              <a:buSzTx/>
              <a:buChar char="•"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Стоимость комплектующих выросла в 2–5 раз</a:t>
            </a:r>
            <a:endParaRPr lang="en-US" sz="1700"/>
          </a:p>
          <a:p>
            <a:pPr marL="342900" indent="-342900" algn="l">
              <a:lnSpc>
                <a:spcPts val="2750"/>
              </a:lnSpc>
              <a:buSzTx/>
              <a:buChar char="•"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Малые и средние предприятия наиболее уязвимы</a:t>
            </a:r>
            <a:endParaRPr lang="en-US" sz="1700"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4745" y="978218"/>
            <a:ext cx="7514511" cy="1131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3D-печать как решение проблемы</a:t>
            </a:r>
            <a:endParaRPr lang="en-US" sz="3550"/>
          </a:p>
        </p:txBody>
      </p:sp>
      <p:sp>
        <p:nvSpPr>
          <p:cNvPr id="4" name="Text 1"/>
          <p:cNvSpPr/>
          <p:nvPr/>
        </p:nvSpPr>
        <p:spPr>
          <a:xfrm>
            <a:off x="814745" y="2392204"/>
            <a:ext cx="7514511" cy="1254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Технологии аддитивного производства становятся не просто инновацией, а инструментом выживания и развития. Российский рынок 3D-печати в 2024 году составил 18,2 млрд рублей и демонстрирует среднегодовой рост 65%.</a:t>
            </a:r>
            <a:endParaRPr lang="en-US" sz="1600"/>
          </a:p>
        </p:txBody>
      </p:sp>
      <p:sp>
        <p:nvSpPr>
          <p:cNvPr id="5" name="Shape 2"/>
          <p:cNvSpPr/>
          <p:nvPr/>
        </p:nvSpPr>
        <p:spPr>
          <a:xfrm>
            <a:off x="814745" y="3858458"/>
            <a:ext cx="3663077" cy="1759148"/>
          </a:xfrm>
          <a:prstGeom prst="roundRect">
            <a:avLst>
              <a:gd name="adj" fmla="val 4863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3"/>
          <p:cNvSpPr/>
          <p:nvPr/>
        </p:nvSpPr>
        <p:spPr>
          <a:xfrm>
            <a:off x="1025962" y="4069675"/>
            <a:ext cx="2796897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Локальное производство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1025962" y="4465558"/>
            <a:ext cx="3240643" cy="94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Изготовление деталей за часы вместо месяцев, снижение зависимости от импорта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4666059" y="3858458"/>
            <a:ext cx="3663196" cy="1759148"/>
          </a:xfrm>
          <a:prstGeom prst="roundRect">
            <a:avLst>
              <a:gd name="adj" fmla="val 4863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4877276" y="4069675"/>
            <a:ext cx="2263259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Гибкость</a:t>
            </a:r>
            <a:endParaRPr lang="en-US" sz="1750"/>
          </a:p>
        </p:txBody>
      </p:sp>
      <p:sp>
        <p:nvSpPr>
          <p:cNvPr id="10" name="Text 7"/>
          <p:cNvSpPr/>
          <p:nvPr/>
        </p:nvSpPr>
        <p:spPr>
          <a:xfrm>
            <a:off x="4877276" y="4465558"/>
            <a:ext cx="3240762" cy="940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Единичные и мелкосерийные детали, замена снятых с производства комплектующих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814745" y="5805845"/>
            <a:ext cx="7514511" cy="1445538"/>
          </a:xfrm>
          <a:prstGeom prst="roundRect">
            <a:avLst>
              <a:gd name="adj" fmla="val 591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1025962" y="6017062"/>
            <a:ext cx="2263259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Экономия</a:t>
            </a:r>
            <a:endParaRPr lang="en-US" sz="1750"/>
          </a:p>
        </p:txBody>
      </p:sp>
      <p:sp>
        <p:nvSpPr>
          <p:cNvPr id="13" name="Text 10"/>
          <p:cNvSpPr/>
          <p:nvPr/>
        </p:nvSpPr>
        <p:spPr>
          <a:xfrm>
            <a:off x="1025962" y="6412944"/>
            <a:ext cx="7092077" cy="627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Быстрое прототипирование, индивидуализированные изделия под специфические задачи</a:t>
            </a:r>
            <a:endParaRPr lang="en-US" sz="1600"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881063" y="799148"/>
            <a:ext cx="1648658" cy="429339"/>
          </a:xfrm>
          <a:prstGeom prst="roundRect">
            <a:avLst>
              <a:gd name="adj" fmla="val 17240"/>
            </a:avLst>
          </a:prstGeom>
          <a:noFill/>
          <a:ln w="7620">
            <a:solidFill>
              <a:srgbClr val="F65F62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1020842" y="872847"/>
            <a:ext cx="1369100" cy="28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ЦЕЛЬ И ЗАДАЧИ</a:t>
            </a:r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881063" y="1316593"/>
            <a:ext cx="4895374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Цель исследования</a:t>
            </a:r>
            <a:endParaRPr lang="en-US" sz="3850"/>
          </a:p>
        </p:txBody>
      </p:sp>
      <p:sp>
        <p:nvSpPr>
          <p:cNvPr id="5" name="Text 3"/>
          <p:cNvSpPr/>
          <p:nvPr/>
        </p:nvSpPr>
        <p:spPr>
          <a:xfrm>
            <a:off x="881063" y="2258973"/>
            <a:ext cx="12868275" cy="1057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Определить наиболее перспективные направления применения технологий 3D-печати в малом и среднем бизнесе России, обеспечивающие максимальную экономическую эффективность и социальную пользу в условиях импортозамещения.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881063" y="3564017"/>
            <a:ext cx="220266" cy="2752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881063" y="3907869"/>
            <a:ext cx="6324005" cy="30480"/>
          </a:xfrm>
          <a:prstGeom prst="rect">
            <a:avLst/>
          </a:prstGeom>
          <a:solidFill>
            <a:srgbClr val="F65F62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881063" y="4078962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Теоретическая база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881063" y="4517112"/>
            <a:ext cx="6324005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Изучение технологий аддитивного производства и их характеристик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7425333" y="3564017"/>
            <a:ext cx="220266" cy="2752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/>
          </a:p>
        </p:txBody>
      </p:sp>
      <p:sp>
        <p:nvSpPr>
          <p:cNvPr id="11" name="Shape 9"/>
          <p:cNvSpPr/>
          <p:nvPr/>
        </p:nvSpPr>
        <p:spPr>
          <a:xfrm>
            <a:off x="7425333" y="3907869"/>
            <a:ext cx="6324005" cy="30480"/>
          </a:xfrm>
          <a:prstGeom prst="rect">
            <a:avLst/>
          </a:prstGeom>
          <a:solidFill>
            <a:srgbClr val="F65F62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7425333" y="4078962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Анализ рынка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7425333" y="4517112"/>
            <a:ext cx="6324005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Сравнительный анализ рыночных ниш по критериям эффективности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881063" y="5607368"/>
            <a:ext cx="220266" cy="2752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/>
          </a:p>
        </p:txBody>
      </p:sp>
      <p:sp>
        <p:nvSpPr>
          <p:cNvPr id="15" name="Shape 13"/>
          <p:cNvSpPr/>
          <p:nvPr/>
        </p:nvSpPr>
        <p:spPr>
          <a:xfrm>
            <a:off x="881063" y="5951220"/>
            <a:ext cx="6324005" cy="30480"/>
          </a:xfrm>
          <a:prstGeom prst="rect">
            <a:avLst/>
          </a:prstGeom>
          <a:solidFill>
            <a:srgbClr val="F65F62"/>
          </a:solidFill>
        </p:spPr>
        <p:txBody>
          <a:bodyPr/>
          <a:lstStyle/>
          <a:p/>
        </p:txBody>
      </p:sp>
      <p:sp>
        <p:nvSpPr>
          <p:cNvPr id="16" name="Text 14"/>
          <p:cNvSpPr/>
          <p:nvPr/>
        </p:nvSpPr>
        <p:spPr>
          <a:xfrm>
            <a:off x="881063" y="6122313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Прогнозирование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881063" y="6560463"/>
            <a:ext cx="6324005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Построение прогноза развития рынка до 2026 года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7425333" y="5607368"/>
            <a:ext cx="220266" cy="2752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700"/>
          </a:p>
        </p:txBody>
      </p:sp>
      <p:sp>
        <p:nvSpPr>
          <p:cNvPr id="19" name="Shape 17"/>
          <p:cNvSpPr/>
          <p:nvPr/>
        </p:nvSpPr>
        <p:spPr>
          <a:xfrm>
            <a:off x="7425333" y="5951220"/>
            <a:ext cx="6324005" cy="30480"/>
          </a:xfrm>
          <a:prstGeom prst="rect">
            <a:avLst/>
          </a:prstGeom>
          <a:solidFill>
            <a:srgbClr val="F65F62"/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7425333" y="6122313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Бизнес-модель</a:t>
            </a:r>
            <a:endParaRPr lang="en-US" sz="1900"/>
          </a:p>
        </p:txBody>
      </p:sp>
      <p:sp>
        <p:nvSpPr>
          <p:cNvPr id="21" name="Text 19"/>
          <p:cNvSpPr/>
          <p:nvPr/>
        </p:nvSpPr>
        <p:spPr>
          <a:xfrm>
            <a:off x="7425333" y="6560463"/>
            <a:ext cx="6324005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Разработка практической концепции с финансовым обоснованием</a:t>
            </a:r>
            <a:endParaRPr lang="en-US" sz="17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881063" y="1351359"/>
            <a:ext cx="5631180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Гипотеза исследования</a:t>
            </a:r>
            <a:endParaRPr lang="en-US" sz="3850"/>
          </a:p>
        </p:txBody>
      </p:sp>
      <p:sp>
        <p:nvSpPr>
          <p:cNvPr id="3" name="Text 1"/>
          <p:cNvSpPr/>
          <p:nvPr/>
        </p:nvSpPr>
        <p:spPr>
          <a:xfrm>
            <a:off x="1211461" y="2651641"/>
            <a:ext cx="12537877" cy="1057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Если использовать технологии 3D-печати в правильно выбранной рыночной нише, сочетающей высокий спрос, значительную маржинальность и социальную значимость, то можно создать высокорентабельный бизнес с коротким сроком окупаемости, который одновременно решает задачи импортозамещения.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881063" y="2403872"/>
            <a:ext cx="30480" cy="1552813"/>
          </a:xfrm>
          <a:prstGeom prst="rect">
            <a:avLst/>
          </a:prstGeom>
          <a:solidFill>
            <a:srgbClr val="F65F62"/>
          </a:solidFill>
        </p:spPr>
        <p:txBody>
          <a:bodyPr/>
          <a:lstStyle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063" y="4204454"/>
            <a:ext cx="550664" cy="550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1063" y="5030391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Острая потребность</a:t>
            </a:r>
            <a:endParaRPr lang="en-US" sz="1900"/>
          </a:p>
        </p:txBody>
      </p:sp>
      <p:sp>
        <p:nvSpPr>
          <p:cNvPr id="7" name="Text 4"/>
          <p:cNvSpPr/>
          <p:nvPr/>
        </p:nvSpPr>
        <p:spPr>
          <a:xfrm>
            <a:off x="881063" y="5468541"/>
            <a:ext cx="4105870" cy="1409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Санкционные ограничения создали дефицит комплектующих. Предприятия готовы платить за быстрое решение.</a:t>
            </a:r>
            <a:endParaRPr lang="en-US" sz="17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2205" y="4204454"/>
            <a:ext cx="550664" cy="550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2205" y="5030391"/>
            <a:ext cx="2867263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Ценовое преимущество</a:t>
            </a:r>
            <a:endParaRPr lang="en-US" sz="1900"/>
          </a:p>
        </p:txBody>
      </p:sp>
      <p:sp>
        <p:nvSpPr>
          <p:cNvPr id="10" name="Text 6"/>
          <p:cNvSpPr/>
          <p:nvPr/>
        </p:nvSpPr>
        <p:spPr>
          <a:xfrm>
            <a:off x="5262205" y="5468541"/>
            <a:ext cx="4105870" cy="1057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Себестоимость детали 20–50 рублей, цена для клиента 300–500 рублей. Маржинальность 300–500%.</a:t>
            </a:r>
            <a:endParaRPr lang="en-US" sz="17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3348" y="4204454"/>
            <a:ext cx="550664" cy="550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3348" y="5030391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Низкий порог входа</a:t>
            </a:r>
            <a:endParaRPr lang="en-US" sz="1900"/>
          </a:p>
        </p:txBody>
      </p:sp>
      <p:sp>
        <p:nvSpPr>
          <p:cNvPr id="13" name="Text 8"/>
          <p:cNvSpPr/>
          <p:nvPr/>
        </p:nvSpPr>
        <p:spPr>
          <a:xfrm>
            <a:off x="9643348" y="5468541"/>
            <a:ext cx="4105989" cy="1409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Базовое оборудование от 30 000 до 80 000 рублей позволяет запустить производство с минимальными инвестициями.</a:t>
            </a:r>
            <a:endParaRPr lang="en-US" sz="1700"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773073" y="937260"/>
            <a:ext cx="1270278" cy="347901"/>
          </a:xfrm>
          <a:prstGeom prst="roundRect">
            <a:avLst>
              <a:gd name="adj" fmla="val 18666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888921" y="995124"/>
            <a:ext cx="1038582" cy="2321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ТЕХНОЛОГИИ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773073" y="1352907"/>
            <a:ext cx="7066836" cy="536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Сравнение технологий 3D-печати</a:t>
            </a:r>
            <a:endParaRPr lang="en-US" sz="3350"/>
          </a:p>
        </p:txBody>
      </p:sp>
      <p:sp>
        <p:nvSpPr>
          <p:cNvPr id="5" name="Text 3"/>
          <p:cNvSpPr/>
          <p:nvPr/>
        </p:nvSpPr>
        <p:spPr>
          <a:xfrm>
            <a:off x="773073" y="2143958"/>
            <a:ext cx="13084254" cy="580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Для систематизации информации и выбора оптимальной технологии проведён сравнительный анализ основных методов аддитивного производства.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73073" y="2915007"/>
            <a:ext cx="13084254" cy="3139321"/>
          </a:xfrm>
          <a:prstGeom prst="roundRect">
            <a:avLst>
              <a:gd name="adj" fmla="val 258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780693" y="2922627"/>
            <a:ext cx="13069015" cy="50875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74288" y="3031927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Параметр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4245293" y="3031927"/>
            <a:ext cx="2219682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FDM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859072" y="3031927"/>
            <a:ext cx="1566148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SLA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8819317" y="3031927"/>
            <a:ext cx="1566148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SLS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0779562" y="3031927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DLP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780693" y="3431381"/>
            <a:ext cx="13069015" cy="798909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974288" y="3540681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Принцип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245293" y="3540681"/>
            <a:ext cx="2219682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Наплавление пластика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6859072" y="3540681"/>
            <a:ext cx="1566148" cy="580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Лазерное отверждение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8819317" y="3540681"/>
            <a:ext cx="1566148" cy="580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Лазерное спекание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0779562" y="3540681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Проекторное отверждение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780693" y="4230291"/>
            <a:ext cx="13069015" cy="50875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974288" y="4339590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Точность (мкм)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4245293" y="4339590"/>
            <a:ext cx="2219682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100–200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6859072" y="4339590"/>
            <a:ext cx="1566148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25–100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8819317" y="4339590"/>
            <a:ext cx="1566148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100–150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0779562" y="4339590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35–100</a:t>
            </a:r>
            <a:endParaRPr lang="en-US" sz="1500"/>
          </a:p>
        </p:txBody>
      </p:sp>
      <p:sp>
        <p:nvSpPr>
          <p:cNvPr id="25" name="Shape 23"/>
          <p:cNvSpPr/>
          <p:nvPr/>
        </p:nvSpPr>
        <p:spPr>
          <a:xfrm>
            <a:off x="780693" y="4739045"/>
            <a:ext cx="13069015" cy="50875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974288" y="4848344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Стоимость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4245293" y="4848344"/>
            <a:ext cx="2219682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 30 тыс. руб.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6859072" y="4848344"/>
            <a:ext cx="1566148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 150 тыс. руб.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8819317" y="4848344"/>
            <a:ext cx="1566148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 3 млн руб.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10779562" y="4848344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 200 тыс. руб.</a:t>
            </a:r>
            <a:endParaRPr lang="en-US" sz="1500"/>
          </a:p>
        </p:txBody>
      </p:sp>
      <p:sp>
        <p:nvSpPr>
          <p:cNvPr id="31" name="Shape 29"/>
          <p:cNvSpPr/>
          <p:nvPr/>
        </p:nvSpPr>
        <p:spPr>
          <a:xfrm>
            <a:off x="780693" y="5247799"/>
            <a:ext cx="13069015" cy="798909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974288" y="5357098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Применение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4245293" y="5357098"/>
            <a:ext cx="2219682" cy="580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Функциональные детали</a:t>
            </a:r>
            <a:endParaRPr lang="en-US" sz="1500"/>
          </a:p>
        </p:txBody>
      </p:sp>
      <p:sp>
        <p:nvSpPr>
          <p:cNvPr id="34" name="Text 32"/>
          <p:cNvSpPr/>
          <p:nvPr/>
        </p:nvSpPr>
        <p:spPr>
          <a:xfrm>
            <a:off x="6859072" y="5357098"/>
            <a:ext cx="1566148" cy="580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Ювелирка, стоматология</a:t>
            </a:r>
            <a:endParaRPr lang="en-US" sz="1500"/>
          </a:p>
        </p:txBody>
      </p:sp>
      <p:sp>
        <p:nvSpPr>
          <p:cNvPr id="35" name="Text 33"/>
          <p:cNvSpPr/>
          <p:nvPr/>
        </p:nvSpPr>
        <p:spPr>
          <a:xfrm>
            <a:off x="8819317" y="5357098"/>
            <a:ext cx="1566148" cy="580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Промышленные детали</a:t>
            </a:r>
            <a:endParaRPr lang="en-US" sz="1500"/>
          </a:p>
        </p:txBody>
      </p:sp>
      <p:sp>
        <p:nvSpPr>
          <p:cNvPr id="36" name="Text 34"/>
          <p:cNvSpPr/>
          <p:nvPr/>
        </p:nvSpPr>
        <p:spPr>
          <a:xfrm>
            <a:off x="10779562" y="5357098"/>
            <a:ext cx="2876907" cy="290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Медицина, точные модели</a:t>
            </a:r>
            <a:endParaRPr lang="en-US" sz="1500"/>
          </a:p>
        </p:txBody>
      </p:sp>
      <p:sp>
        <p:nvSpPr>
          <p:cNvPr id="37" name="Shape 35"/>
          <p:cNvSpPr/>
          <p:nvPr/>
        </p:nvSpPr>
        <p:spPr>
          <a:xfrm>
            <a:off x="773073" y="6245066"/>
            <a:ext cx="13084254" cy="1047155"/>
          </a:xfrm>
          <a:prstGeom prst="roundRect">
            <a:avLst>
              <a:gd name="adj" fmla="val 7752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11" y="6538317"/>
            <a:ext cx="241578" cy="19323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401128" y="6462832"/>
            <a:ext cx="12262961" cy="580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Вывод:</a:t>
            </a:r>
            <a:r>
              <a:rPr lang="en-US" sz="150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Для малого и среднего бизнеса наиболее оптимальной является FDM-технология — приемлемое качество при минимальных затратах на оборудование и материалы.</a:t>
            </a:r>
            <a:endParaRPr lang="en-US" sz="1500"/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1271" y="1027986"/>
            <a:ext cx="6602254" cy="4452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Рейтинг перспективных направлений</a:t>
            </a:r>
            <a:endParaRPr lang="en-US" sz="2800"/>
          </a:p>
        </p:txBody>
      </p:sp>
      <p:sp>
        <p:nvSpPr>
          <p:cNvPr id="4" name="Text 1"/>
          <p:cNvSpPr/>
          <p:nvPr/>
        </p:nvSpPr>
        <p:spPr>
          <a:xfrm>
            <a:off x="641271" y="1648182"/>
            <a:ext cx="7861459" cy="6647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Проведён комплексный анализ восьми ключевых рыночных ниш. Каждое направление оценивалось по критериям востребованности, доходности, барьеров входа и социальной значимости.</a:t>
            </a:r>
            <a:endParaRPr lang="en-US" sz="1250"/>
          </a:p>
        </p:txBody>
      </p:sp>
      <p:sp>
        <p:nvSpPr>
          <p:cNvPr id="5" name="Shape 2"/>
          <p:cNvSpPr/>
          <p:nvPr/>
        </p:nvSpPr>
        <p:spPr>
          <a:xfrm>
            <a:off x="641271" y="2444115"/>
            <a:ext cx="7861459" cy="1101923"/>
          </a:xfrm>
          <a:prstGeom prst="roundRect">
            <a:avLst>
              <a:gd name="adj" fmla="val 6111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3"/>
          <p:cNvSpPr/>
          <p:nvPr/>
        </p:nvSpPr>
        <p:spPr>
          <a:xfrm>
            <a:off x="664131" y="2466975"/>
            <a:ext cx="641271" cy="1056203"/>
          </a:xfrm>
          <a:prstGeom prst="roundRect">
            <a:avLst>
              <a:gd name="adj" fmla="val 6223"/>
            </a:avLst>
          </a:prstGeom>
          <a:solidFill>
            <a:srgbClr val="790709"/>
          </a:solidFill>
        </p:spPr>
        <p:txBody>
          <a:bodyPr/>
          <a:lstStyle/>
          <a:p/>
        </p:txBody>
      </p:sp>
      <p:sp>
        <p:nvSpPr>
          <p:cNvPr id="7" name="Text 4"/>
          <p:cNvSpPr/>
          <p:nvPr/>
        </p:nvSpPr>
        <p:spPr>
          <a:xfrm>
            <a:off x="860703" y="2844760"/>
            <a:ext cx="240387" cy="300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850"/>
          </a:p>
        </p:txBody>
      </p:sp>
      <p:sp>
        <p:nvSpPr>
          <p:cNvPr id="8" name="Text 5"/>
          <p:cNvSpPr/>
          <p:nvPr/>
        </p:nvSpPr>
        <p:spPr>
          <a:xfrm>
            <a:off x="1421963" y="2627233"/>
            <a:ext cx="225504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Промышленные запчасти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1421963" y="2919770"/>
            <a:ext cx="6897648" cy="4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Востребованность 10/10, доходность 9/10. Острая потребность, маржа 300–500%, повторяемость заказов.</a:t>
            </a:r>
            <a:endParaRPr lang="en-US" sz="1250"/>
          </a:p>
        </p:txBody>
      </p:sp>
      <p:sp>
        <p:nvSpPr>
          <p:cNvPr id="10" name="Shape 7"/>
          <p:cNvSpPr/>
          <p:nvPr/>
        </p:nvSpPr>
        <p:spPr>
          <a:xfrm>
            <a:off x="641271" y="3662601"/>
            <a:ext cx="7861459" cy="1101923"/>
          </a:xfrm>
          <a:prstGeom prst="roundRect">
            <a:avLst>
              <a:gd name="adj" fmla="val 6111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8"/>
          <p:cNvSpPr/>
          <p:nvPr/>
        </p:nvSpPr>
        <p:spPr>
          <a:xfrm>
            <a:off x="664131" y="3685461"/>
            <a:ext cx="641271" cy="1056203"/>
          </a:xfrm>
          <a:prstGeom prst="roundRect">
            <a:avLst>
              <a:gd name="adj" fmla="val 6223"/>
            </a:avLst>
          </a:prstGeom>
          <a:solidFill>
            <a:srgbClr val="790709"/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860703" y="4063246"/>
            <a:ext cx="240387" cy="300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850"/>
          </a:p>
        </p:txBody>
      </p:sp>
      <p:sp>
        <p:nvSpPr>
          <p:cNvPr id="13" name="Text 10"/>
          <p:cNvSpPr/>
          <p:nvPr/>
        </p:nvSpPr>
        <p:spPr>
          <a:xfrm>
            <a:off x="1421963" y="3845719"/>
            <a:ext cx="178129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Сельское хозяйство</a:t>
            </a:r>
            <a:endParaRPr lang="en-US" sz="1400"/>
          </a:p>
        </p:txBody>
      </p:sp>
      <p:sp>
        <p:nvSpPr>
          <p:cNvPr id="14" name="Text 11"/>
          <p:cNvSpPr/>
          <p:nvPr/>
        </p:nvSpPr>
        <p:spPr>
          <a:xfrm>
            <a:off x="1421963" y="4138255"/>
            <a:ext cx="6897648" cy="4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Востребованность 9/10, доходность 8/10. Массовые заказы 500+ единиц, низкая конкуренция в регионах.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641271" y="4881086"/>
            <a:ext cx="7861459" cy="1101923"/>
          </a:xfrm>
          <a:prstGeom prst="roundRect">
            <a:avLst>
              <a:gd name="adj" fmla="val 6111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3"/>
          <p:cNvSpPr/>
          <p:nvPr/>
        </p:nvSpPr>
        <p:spPr>
          <a:xfrm>
            <a:off x="664131" y="4903946"/>
            <a:ext cx="641271" cy="1056203"/>
          </a:xfrm>
          <a:prstGeom prst="roundRect">
            <a:avLst>
              <a:gd name="adj" fmla="val 6223"/>
            </a:avLst>
          </a:prstGeom>
          <a:solidFill>
            <a:srgbClr val="790709"/>
          </a:solidFill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860703" y="5281732"/>
            <a:ext cx="240387" cy="300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1850"/>
          </a:p>
        </p:txBody>
      </p:sp>
      <p:sp>
        <p:nvSpPr>
          <p:cNvPr id="18" name="Text 15"/>
          <p:cNvSpPr/>
          <p:nvPr/>
        </p:nvSpPr>
        <p:spPr>
          <a:xfrm>
            <a:off x="1421963" y="5064204"/>
            <a:ext cx="1893570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Медицинские модели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1421963" y="5356741"/>
            <a:ext cx="6897648" cy="4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Востребованность 7/10, доходность 10/10. Сверхвысокая маржа 1500%+, но высокие барьеры входа.</a:t>
            </a:r>
            <a:endParaRPr lang="en-US" sz="1250"/>
          </a:p>
        </p:txBody>
      </p:sp>
      <p:sp>
        <p:nvSpPr>
          <p:cNvPr id="20" name="Shape 17"/>
          <p:cNvSpPr/>
          <p:nvPr/>
        </p:nvSpPr>
        <p:spPr>
          <a:xfrm>
            <a:off x="641271" y="6099572"/>
            <a:ext cx="7861459" cy="1101923"/>
          </a:xfrm>
          <a:prstGeom prst="roundRect">
            <a:avLst>
              <a:gd name="adj" fmla="val 6111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hape 18"/>
          <p:cNvSpPr/>
          <p:nvPr/>
        </p:nvSpPr>
        <p:spPr>
          <a:xfrm>
            <a:off x="664131" y="6122432"/>
            <a:ext cx="641271" cy="1056203"/>
          </a:xfrm>
          <a:prstGeom prst="roundRect">
            <a:avLst>
              <a:gd name="adj" fmla="val 6223"/>
            </a:avLst>
          </a:prstGeom>
          <a:solidFill>
            <a:srgbClr val="790709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860703" y="6500217"/>
            <a:ext cx="240387" cy="300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1850"/>
          </a:p>
        </p:txBody>
      </p:sp>
      <p:sp>
        <p:nvSpPr>
          <p:cNvPr id="23" name="Text 20"/>
          <p:cNvSpPr/>
          <p:nvPr/>
        </p:nvSpPr>
        <p:spPr>
          <a:xfrm>
            <a:off x="1421963" y="6282690"/>
            <a:ext cx="2292072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Образовательные наборы</a:t>
            </a:r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1421963" y="6575227"/>
            <a:ext cx="6897648" cy="4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Востребованность 8/10, доходность 7/10. Госзаказы, предсказуемость бюджетов, долгосрочные контракты.</a:t>
            </a:r>
            <a:endParaRPr lang="en-US" sz="1250"/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881063" y="942142"/>
            <a:ext cx="1360884" cy="414099"/>
          </a:xfrm>
          <a:prstGeom prst="roundRect">
            <a:avLst>
              <a:gd name="adj" fmla="val 17875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222" y="1061085"/>
            <a:ext cx="176212" cy="176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7541" y="1008221"/>
            <a:ext cx="832247" cy="28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ПРОГНОЗ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881063" y="1444347"/>
            <a:ext cx="8238411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Ёмкость рынка 3D-печати в России</a:t>
            </a:r>
            <a:endParaRPr lang="en-US" sz="3850"/>
          </a:p>
        </p:txBody>
      </p:sp>
      <p:sp>
        <p:nvSpPr>
          <p:cNvPr id="6" name="Text 3"/>
          <p:cNvSpPr/>
          <p:nvPr/>
        </p:nvSpPr>
        <p:spPr>
          <a:xfrm>
            <a:off x="881063" y="2386727"/>
            <a:ext cx="12868275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Построен прогноз развития рынка аддитивного производства по ключевым сегментам до 2026 года на основе данных iKS-Consulting и Минпромторга РФ.</a:t>
            </a:r>
            <a:endParaRPr lang="en-US" sz="17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63" y="3587115"/>
            <a:ext cx="6165413" cy="27916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67808" y="6378773"/>
            <a:ext cx="220266" cy="220266"/>
          </a:xfrm>
          <a:prstGeom prst="roundRect">
            <a:avLst>
              <a:gd name="adj" fmla="val 8303"/>
            </a:avLst>
          </a:prstGeom>
          <a:solidFill>
            <a:srgbClr val="CB0B0F"/>
          </a:solidFill>
        </p:spPr>
        <p:txBody>
          <a:bodyPr/>
          <a:lstStyle/>
          <a:p/>
        </p:txBody>
      </p:sp>
      <p:sp>
        <p:nvSpPr>
          <p:cNvPr id="9" name="Text 5"/>
          <p:cNvSpPr/>
          <p:nvPr/>
        </p:nvSpPr>
        <p:spPr>
          <a:xfrm>
            <a:off x="2749034" y="6378773"/>
            <a:ext cx="1138476" cy="220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2024 (факт)</a:t>
            </a:r>
            <a:endParaRPr lang="en-US" sz="1700"/>
          </a:p>
        </p:txBody>
      </p:sp>
      <p:sp>
        <p:nvSpPr>
          <p:cNvPr id="10" name="Shape 6"/>
          <p:cNvSpPr/>
          <p:nvPr/>
        </p:nvSpPr>
        <p:spPr>
          <a:xfrm>
            <a:off x="4039910" y="6378773"/>
            <a:ext cx="220266" cy="220266"/>
          </a:xfrm>
          <a:prstGeom prst="roundRect">
            <a:avLst>
              <a:gd name="adj" fmla="val 8303"/>
            </a:avLst>
          </a:prstGeom>
          <a:solidFill>
            <a:srgbClr val="F6676A"/>
          </a:solidFill>
        </p:spPr>
        <p:txBody>
          <a:bodyPr/>
          <a:lstStyle/>
          <a:p/>
        </p:txBody>
      </p:sp>
      <p:sp>
        <p:nvSpPr>
          <p:cNvPr id="11" name="Text 7"/>
          <p:cNvSpPr/>
          <p:nvPr/>
        </p:nvSpPr>
        <p:spPr>
          <a:xfrm>
            <a:off x="4321135" y="6378773"/>
            <a:ext cx="1510308" cy="220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2026 (прогноз)</a:t>
            </a:r>
            <a:endParaRPr lang="en-US" sz="1700"/>
          </a:p>
        </p:txBody>
      </p:sp>
      <p:sp>
        <p:nvSpPr>
          <p:cNvPr id="12" name="Text 8"/>
          <p:cNvSpPr/>
          <p:nvPr/>
        </p:nvSpPr>
        <p:spPr>
          <a:xfrm>
            <a:off x="7591544" y="3559612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Ключевые выводы</a:t>
            </a:r>
            <a:endParaRPr lang="en-US" sz="1900"/>
          </a:p>
        </p:txBody>
      </p:sp>
      <p:sp>
        <p:nvSpPr>
          <p:cNvPr id="13" name="Text 9"/>
          <p:cNvSpPr/>
          <p:nvPr/>
        </p:nvSpPr>
        <p:spPr>
          <a:xfrm>
            <a:off x="7591544" y="4085868"/>
            <a:ext cx="6165413" cy="1057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Промышленный сегмент — абсолютный лидер по объёму рынка: 12,4 млрд рублей к 2026 году, что составляет 41% всего рынка 3D-печати в России.</a:t>
            </a:r>
            <a:endParaRPr lang="en-US" sz="1700"/>
          </a:p>
        </p:txBody>
      </p:sp>
      <p:sp>
        <p:nvSpPr>
          <p:cNvPr id="14" name="Text 10"/>
          <p:cNvSpPr/>
          <p:nvPr/>
        </p:nvSpPr>
        <p:spPr>
          <a:xfrm>
            <a:off x="7591544" y="5341382"/>
            <a:ext cx="6165413" cy="1409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Темп роста +75% в промышленности превышает среднерыночный, что свидетельствует об ускоренном внедрении технологий в условиях санкционного давления.</a:t>
            </a:r>
            <a:endParaRPr lang="en-US" sz="1700"/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881063" y="1613416"/>
            <a:ext cx="10281642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Драйверы роста промышленного сегмента</a:t>
            </a:r>
            <a:endParaRPr lang="en-US" sz="38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2665928"/>
            <a:ext cx="2956203" cy="1827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063" y="4768215"/>
            <a:ext cx="306062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Дефицит комплектующих</a:t>
            </a:r>
            <a:endParaRPr lang="en-US" sz="1900"/>
          </a:p>
        </p:txBody>
      </p:sp>
      <p:sp>
        <p:nvSpPr>
          <p:cNvPr id="5" name="Text 2"/>
          <p:cNvSpPr/>
          <p:nvPr/>
        </p:nvSpPr>
        <p:spPr>
          <a:xfrm>
            <a:off x="881063" y="5206365"/>
            <a:ext cx="4105870" cy="1409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Доля импорта сократилась с 60% до 35%, спрос остаётся неудовлетворённым. Критический дефицит импортных запчастей.</a:t>
            </a:r>
            <a:endParaRPr lang="en-US" sz="17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205" y="2665928"/>
            <a:ext cx="2956203" cy="18270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2205" y="4768215"/>
            <a:ext cx="2911316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Старение оборудования</a:t>
            </a:r>
            <a:endParaRPr lang="en-US" sz="1900"/>
          </a:p>
        </p:txBody>
      </p:sp>
      <p:sp>
        <p:nvSpPr>
          <p:cNvPr id="8" name="Text 4"/>
          <p:cNvSpPr/>
          <p:nvPr/>
        </p:nvSpPr>
        <p:spPr>
          <a:xfrm>
            <a:off x="5262205" y="5206365"/>
            <a:ext cx="4105870" cy="1409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Средний возраст станочного парка 18–22 года, что приводит к учащению поломок и росту потребности в запчастях.</a:t>
            </a:r>
            <a:endParaRPr lang="en-US" sz="17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348" y="2665928"/>
            <a:ext cx="2956203" cy="18270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3348" y="4768215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Господдержка</a:t>
            </a:r>
            <a:endParaRPr lang="en-US" sz="1900"/>
          </a:p>
        </p:txBody>
      </p:sp>
      <p:sp>
        <p:nvSpPr>
          <p:cNvPr id="11" name="Text 6"/>
          <p:cNvSpPr/>
          <p:nvPr/>
        </p:nvSpPr>
        <p:spPr>
          <a:xfrm>
            <a:off x="9643348" y="5206365"/>
            <a:ext cx="4105989" cy="1409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 млрд рублей на развитие аддитивных технологий. Создаются инжиниринговые центры компетенций при вузах.</a:t>
            </a:r>
            <a:endParaRPr lang="en-US" sz="1700"/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825341" y="647938"/>
            <a:ext cx="1398270" cy="379214"/>
          </a:xfrm>
          <a:prstGeom prst="roundRect">
            <a:avLst>
              <a:gd name="adj" fmla="val 18283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949047" y="709732"/>
            <a:ext cx="1150858" cy="255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ВЫБОР НИШИ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825341" y="1104424"/>
            <a:ext cx="7781330" cy="5730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Почему промышленные запчасти?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825341" y="1967389"/>
            <a:ext cx="12979718" cy="639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Совокупность результатов анализа позволяет сделать обоснованный вывод о выборе промышленного направления — производства запчастей для конвейерного оборудования.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5341" y="2824163"/>
            <a:ext cx="6393180" cy="2282071"/>
          </a:xfrm>
          <a:prstGeom prst="roundRect">
            <a:avLst>
              <a:gd name="adj" fmla="val 379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1039297" y="3038118"/>
            <a:ext cx="619006" cy="619006"/>
          </a:xfrm>
          <a:prstGeom prst="roundRect">
            <a:avLst>
              <a:gd name="adj" fmla="val 14770593"/>
            </a:avLst>
          </a:prstGeom>
          <a:solidFill>
            <a:srgbClr val="F65F62"/>
          </a:solidFill>
        </p:spPr>
        <p:txBody>
          <a:bodyPr/>
          <a:lstStyle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556" y="3208258"/>
            <a:ext cx="278487" cy="278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9297" y="3850362"/>
            <a:ext cx="2292668" cy="286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400 000+ клиентов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1039297" y="4252913"/>
            <a:ext cx="5965269" cy="639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Промышленных предприятий в России. 73% испытывают проблемы с поставками комплектующих.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7411760" y="2824163"/>
            <a:ext cx="6393299" cy="2282071"/>
          </a:xfrm>
          <a:prstGeom prst="roundRect">
            <a:avLst>
              <a:gd name="adj" fmla="val 379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7625715" y="3038118"/>
            <a:ext cx="619006" cy="619006"/>
          </a:xfrm>
          <a:prstGeom prst="roundRect">
            <a:avLst>
              <a:gd name="adj" fmla="val 14770593"/>
            </a:avLst>
          </a:prstGeom>
          <a:solidFill>
            <a:srgbClr val="F65F62"/>
          </a:solidFill>
        </p:spPr>
        <p:txBody>
          <a:bodyPr/>
          <a:lstStyle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5974" y="3208258"/>
            <a:ext cx="278487" cy="278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25715" y="3850362"/>
            <a:ext cx="2292668" cy="286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Маржа 800–900%</a:t>
            </a:r>
            <a:endParaRPr lang="en-US" sz="1800"/>
          </a:p>
        </p:txBody>
      </p:sp>
      <p:sp>
        <p:nvSpPr>
          <p:cNvPr id="15" name="Text 11"/>
          <p:cNvSpPr/>
          <p:nvPr/>
        </p:nvSpPr>
        <p:spPr>
          <a:xfrm>
            <a:off x="7625715" y="4252913"/>
            <a:ext cx="5965388" cy="639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Себестоимость 45 руб., цена 400 руб. Ценность для клиента — экономия миллионов.</a:t>
            </a:r>
            <a:endParaRPr lang="en-US" sz="1600"/>
          </a:p>
        </p:txBody>
      </p:sp>
      <p:sp>
        <p:nvSpPr>
          <p:cNvPr id="16" name="Shape 12"/>
          <p:cNvSpPr/>
          <p:nvPr/>
        </p:nvSpPr>
        <p:spPr>
          <a:xfrm>
            <a:off x="825341" y="5299472"/>
            <a:ext cx="6393180" cy="2282071"/>
          </a:xfrm>
          <a:prstGeom prst="roundRect">
            <a:avLst>
              <a:gd name="adj" fmla="val 379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hape 13"/>
          <p:cNvSpPr/>
          <p:nvPr/>
        </p:nvSpPr>
        <p:spPr>
          <a:xfrm>
            <a:off x="1039297" y="5513427"/>
            <a:ext cx="619006" cy="619006"/>
          </a:xfrm>
          <a:prstGeom prst="roundRect">
            <a:avLst>
              <a:gd name="adj" fmla="val 14770593"/>
            </a:avLst>
          </a:prstGeom>
          <a:solidFill>
            <a:srgbClr val="F65F62"/>
          </a:solidFill>
        </p:spPr>
        <p:txBody>
          <a:bodyPr/>
          <a:lstStyle/>
          <a:p/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9556" y="5683568"/>
            <a:ext cx="278487" cy="2784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39297" y="6325672"/>
            <a:ext cx="2292668" cy="286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Повторные заказы</a:t>
            </a:r>
            <a:endParaRPr lang="en-US" sz="1800"/>
          </a:p>
        </p:txBody>
      </p:sp>
      <p:sp>
        <p:nvSpPr>
          <p:cNvPr id="20" name="Text 15"/>
          <p:cNvSpPr/>
          <p:nvPr/>
        </p:nvSpPr>
        <p:spPr>
          <a:xfrm>
            <a:off x="1039297" y="6728222"/>
            <a:ext cx="5965269" cy="639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Износ деталей через 6–12 месяцев. Масштабирование на весь парк оборудования.</a:t>
            </a:r>
            <a:endParaRPr lang="en-US" sz="1600"/>
          </a:p>
        </p:txBody>
      </p:sp>
      <p:sp>
        <p:nvSpPr>
          <p:cNvPr id="21" name="Shape 16"/>
          <p:cNvSpPr/>
          <p:nvPr/>
        </p:nvSpPr>
        <p:spPr>
          <a:xfrm>
            <a:off x="7411760" y="5299472"/>
            <a:ext cx="6393299" cy="2282071"/>
          </a:xfrm>
          <a:prstGeom prst="roundRect">
            <a:avLst>
              <a:gd name="adj" fmla="val 379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17"/>
          <p:cNvSpPr/>
          <p:nvPr/>
        </p:nvSpPr>
        <p:spPr>
          <a:xfrm>
            <a:off x="7625715" y="5513427"/>
            <a:ext cx="619006" cy="619006"/>
          </a:xfrm>
          <a:prstGeom prst="roundRect">
            <a:avLst>
              <a:gd name="adj" fmla="val 14770593"/>
            </a:avLst>
          </a:prstGeom>
          <a:solidFill>
            <a:srgbClr val="F65F62"/>
          </a:solidFill>
        </p:spPr>
        <p:txBody>
          <a:bodyPr/>
          <a:lstStyle/>
          <a:p/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5974" y="5683568"/>
            <a:ext cx="278487" cy="2784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25715" y="6325672"/>
            <a:ext cx="3086933" cy="286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Стартовый капитал 72 000 ₽</a:t>
            </a:r>
            <a:endParaRPr lang="en-US" sz="1800"/>
          </a:p>
        </p:txBody>
      </p:sp>
      <p:sp>
        <p:nvSpPr>
          <p:cNvPr id="25" name="Text 19"/>
          <p:cNvSpPr/>
          <p:nvPr/>
        </p:nvSpPr>
        <p:spPr>
          <a:xfrm>
            <a:off x="7625715" y="6728222"/>
            <a:ext cx="5965388" cy="639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Нет требований к сертификации. Технология осваивается за 1–2 месяца.</a:t>
            </a:r>
            <a:endParaRPr lang="en-US" sz="1600"/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861298" y="903208"/>
            <a:ext cx="7701796" cy="5114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Ценностное предложение для клиента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861298" y="1722477"/>
            <a:ext cx="12907804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Мы решаем три критические проблемы промышленных предприятий, связанные с обслуживанием конвейерного оборудования.</a:t>
            </a:r>
            <a:endParaRPr lang="en-US" sz="1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98" y="2166104"/>
            <a:ext cx="6453902" cy="7365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5369" y="3056453"/>
            <a:ext cx="2868454" cy="255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Было: 3–6 месяцев ожидания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1045369" y="3404354"/>
            <a:ext cx="6085761" cy="541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Заказ запчасти из Европы/Китая. Потери от простоя — 36 млн руб. за месяц.</a:t>
            </a:r>
            <a:endParaRPr lang="en-US" sz="1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66104"/>
            <a:ext cx="6453902" cy="7365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9271" y="3056453"/>
            <a:ext cx="2045970" cy="255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Стало: 24–48 часов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7499271" y="3404354"/>
            <a:ext cx="6085761" cy="541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Изготовление детали. Конвейер восстановлен на следующий день. Экономия миллионов.</a:t>
            </a:r>
            <a:endParaRPr lang="en-US" sz="14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98" y="4302562"/>
            <a:ext cx="6453902" cy="7365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5369" y="5192911"/>
            <a:ext cx="2045970" cy="255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Было: 2000–5000 ₽</a:t>
            </a:r>
            <a:endParaRPr lang="en-US" sz="1600"/>
          </a:p>
        </p:txBody>
      </p:sp>
      <p:sp>
        <p:nvSpPr>
          <p:cNvPr id="12" name="Text 7"/>
          <p:cNvSpPr/>
          <p:nvPr/>
        </p:nvSpPr>
        <p:spPr>
          <a:xfrm>
            <a:off x="1045369" y="5540812"/>
            <a:ext cx="6085761" cy="541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Оригинальная шестерня от производителя. Минимальная партия от 10 штук.</a:t>
            </a:r>
            <a:endParaRPr lang="en-US" sz="14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302562"/>
            <a:ext cx="6453902" cy="7365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9271" y="5192911"/>
            <a:ext cx="2045970" cy="255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Стало: 400 ₽</a:t>
            </a:r>
            <a:endParaRPr lang="en-US" sz="1600"/>
          </a:p>
        </p:txBody>
      </p:sp>
      <p:sp>
        <p:nvSpPr>
          <p:cNvPr id="15" name="Text 9"/>
          <p:cNvSpPr/>
          <p:nvPr/>
        </p:nvSpPr>
        <p:spPr>
          <a:xfrm>
            <a:off x="7499271" y="5540812"/>
            <a:ext cx="6085761" cy="541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Наша шестерня в 5–12 раз дешевле. Поштучная продажа — купить ровно столько, сколько нужно.</a:t>
            </a:r>
            <a:endParaRPr lang="en-US" sz="1400"/>
          </a:p>
        </p:txBody>
      </p:sp>
      <p:sp>
        <p:nvSpPr>
          <p:cNvPr id="16" name="Text 10"/>
          <p:cNvSpPr/>
          <p:nvPr/>
        </p:nvSpPr>
        <p:spPr>
          <a:xfrm>
            <a:off x="1137404" y="6612136"/>
            <a:ext cx="12631698" cy="541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УТП:</a:t>
            </a:r>
            <a:r>
              <a:rPr lang="en-US" sz="14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Замена критичных деталей конвейера за 24 часа вместо 3 месяцев ожидания импорта. Локальное производство. Цена в 5–10 раз ниже оригинала.</a:t>
            </a:r>
            <a:endParaRPr lang="en-US" sz="1400"/>
          </a:p>
        </p:txBody>
      </p:sp>
      <p:sp>
        <p:nvSpPr>
          <p:cNvPr id="17" name="Shape 11"/>
          <p:cNvSpPr/>
          <p:nvPr/>
        </p:nvSpPr>
        <p:spPr>
          <a:xfrm>
            <a:off x="861298" y="6439019"/>
            <a:ext cx="22860" cy="887254"/>
          </a:xfrm>
          <a:prstGeom prst="rect">
            <a:avLst/>
          </a:prstGeom>
          <a:solidFill>
            <a:srgbClr val="F65F62"/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881063" y="1126808"/>
            <a:ext cx="1780818" cy="429339"/>
          </a:xfrm>
          <a:prstGeom prst="roundRect">
            <a:avLst>
              <a:gd name="adj" fmla="val 17240"/>
            </a:avLst>
          </a:prstGeom>
          <a:noFill/>
          <a:ln w="7620">
            <a:solidFill>
              <a:srgbClr val="F65F62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1020842" y="1200507"/>
            <a:ext cx="1501259" cy="28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БИЗНЕС-МОДЕЛЬ</a:t>
            </a:r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881063" y="1644253"/>
            <a:ext cx="5791319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Ассортимент продукции</a:t>
            </a:r>
            <a:endParaRPr lang="en-US" sz="3850"/>
          </a:p>
        </p:txBody>
      </p:sp>
      <p:sp>
        <p:nvSpPr>
          <p:cNvPr id="5" name="Text 3"/>
          <p:cNvSpPr/>
          <p:nvPr/>
        </p:nvSpPr>
        <p:spPr>
          <a:xfrm>
            <a:off x="881063" y="2586633"/>
            <a:ext cx="12868275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Узкая специализация на четырёх типах критически важных деталей для конвейерного оборудования обеспечивает глубокую экспертизу и эффективность.</a:t>
            </a:r>
            <a:endParaRPr lang="en-US" sz="17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3539252"/>
            <a:ext cx="872966" cy="872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9301" y="3539252"/>
            <a:ext cx="1862376" cy="6119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Шестерни для конвейеров</a:t>
            </a:r>
            <a:endParaRPr lang="en-US" sz="1900"/>
          </a:p>
        </p:txBody>
      </p:sp>
      <p:sp>
        <p:nvSpPr>
          <p:cNvPr id="8" name="Text 5"/>
          <p:cNvSpPr/>
          <p:nvPr/>
        </p:nvSpPr>
        <p:spPr>
          <a:xfrm>
            <a:off x="2029301" y="4283393"/>
            <a:ext cx="1862376" cy="2466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Различные диаметры и модули зубьев. Износ — 35% случаев простоя. Срок службы 6–12 месяцев.</a:t>
            </a:r>
            <a:endParaRPr lang="en-US" sz="17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949" y="3539252"/>
            <a:ext cx="872966" cy="872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15188" y="3539252"/>
            <a:ext cx="1862376" cy="6119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Направляющие салазки</a:t>
            </a:r>
            <a:endParaRPr lang="en-US" sz="1900"/>
          </a:p>
        </p:txBody>
      </p:sp>
      <p:sp>
        <p:nvSpPr>
          <p:cNvPr id="11" name="Text 7"/>
          <p:cNvSpPr/>
          <p:nvPr/>
        </p:nvSpPr>
        <p:spPr>
          <a:xfrm>
            <a:off x="5315188" y="4283393"/>
            <a:ext cx="1862376" cy="2114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Для станков и транспортёров. Поломка — 20% случаев простоя. Срок службы 8–15 месяцев.</a:t>
            </a:r>
            <a:endParaRPr lang="en-US" sz="17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836" y="3539252"/>
            <a:ext cx="872966" cy="8729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01075" y="3539252"/>
            <a:ext cx="1862376" cy="6119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Корпуса датчиков</a:t>
            </a:r>
            <a:endParaRPr lang="en-US" sz="1900"/>
          </a:p>
        </p:txBody>
      </p:sp>
      <p:sp>
        <p:nvSpPr>
          <p:cNvPr id="14" name="Text 9"/>
          <p:cNvSpPr/>
          <p:nvPr/>
        </p:nvSpPr>
        <p:spPr>
          <a:xfrm>
            <a:off x="8601075" y="4283393"/>
            <a:ext cx="1862376" cy="281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Защитные кожухи для температурных датчиков, давления, положения. Повреждение — 15% случаев.</a:t>
            </a:r>
            <a:endParaRPr lang="en-US" sz="17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8723" y="3539252"/>
            <a:ext cx="872966" cy="87296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6962" y="3539252"/>
            <a:ext cx="1862376" cy="6119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Крепления для датчиков</a:t>
            </a:r>
            <a:endParaRPr lang="en-US" sz="1900"/>
          </a:p>
        </p:txBody>
      </p:sp>
      <p:sp>
        <p:nvSpPr>
          <p:cNvPr id="17" name="Text 11"/>
          <p:cNvSpPr/>
          <p:nvPr/>
        </p:nvSpPr>
        <p:spPr>
          <a:xfrm>
            <a:off x="11886962" y="4283393"/>
            <a:ext cx="1862376" cy="1762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Монтажные кронштейны и адаптеры. Выход из строя — 12% случаев простоя.</a:t>
            </a:r>
            <a:endParaRPr lang="en-US" sz="1700"/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2427446" y="1068943"/>
            <a:ext cx="4333994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Финансовая модель проекта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2427446" y="1632823"/>
            <a:ext cx="9775388" cy="182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Расчёт экономических показателей на примере типового заказа: 50 шестерён для производственной линии.</a:t>
            </a:r>
            <a:endParaRPr lang="en-US" sz="1050"/>
          </a:p>
        </p:txBody>
      </p:sp>
      <p:sp>
        <p:nvSpPr>
          <p:cNvPr id="4" name="Text 2"/>
          <p:cNvSpPr/>
          <p:nvPr/>
        </p:nvSpPr>
        <p:spPr>
          <a:xfrm>
            <a:off x="2427446" y="2083118"/>
            <a:ext cx="3705939" cy="460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75500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3505676" y="2679144"/>
            <a:ext cx="1549479" cy="193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Стартовый капитал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2427446" y="2960965"/>
            <a:ext cx="3705939" cy="182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FDM-принтер, филамент, расходники, инструменты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2427446" y="3266638"/>
            <a:ext cx="3705939" cy="460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20000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3505676" y="3862665"/>
            <a:ext cx="1549479" cy="193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Выручка с заказа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427446" y="4144486"/>
            <a:ext cx="3705939" cy="182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 шестерён × 400 рублей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2427446" y="4572753"/>
            <a:ext cx="3705939" cy="460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2125</a:t>
            </a:r>
            <a:endParaRPr lang="en-US" sz="3600"/>
          </a:p>
        </p:txBody>
      </p:sp>
      <p:sp>
        <p:nvSpPr>
          <p:cNvPr id="11" name="Text 9"/>
          <p:cNvSpPr/>
          <p:nvPr/>
        </p:nvSpPr>
        <p:spPr>
          <a:xfrm>
            <a:off x="3505676" y="5168780"/>
            <a:ext cx="1549479" cy="193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Себестоимость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2427446" y="5450601"/>
            <a:ext cx="3705939" cy="182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Материалы, электроэнергия, амортизация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2427446" y="5878869"/>
            <a:ext cx="3705939" cy="460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17875</a:t>
            </a:r>
            <a:endParaRPr lang="en-US" sz="3600"/>
          </a:p>
        </p:txBody>
      </p:sp>
      <p:sp>
        <p:nvSpPr>
          <p:cNvPr id="14" name="Text 12"/>
          <p:cNvSpPr/>
          <p:nvPr/>
        </p:nvSpPr>
        <p:spPr>
          <a:xfrm>
            <a:off x="3505676" y="6474896"/>
            <a:ext cx="1549479" cy="193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Валовая прибыль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2427446" y="6756717"/>
            <a:ext cx="3705939" cy="182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 одного типового заказа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6481286" y="2002393"/>
            <a:ext cx="1681758" cy="193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Ключевые показатели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481286" y="2284214"/>
            <a:ext cx="5729049" cy="9109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Tx/>
              <a:buChar char="•"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Маржинальность: 89,4%</a:t>
            </a:r>
            <a:endParaRPr lang="en-US" sz="1050"/>
          </a:p>
          <a:p>
            <a:pPr marL="342900" indent="-342900" algn="l">
              <a:lnSpc>
                <a:spcPts val="1400"/>
              </a:lnSpc>
              <a:buSzTx/>
              <a:buChar char="•"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Точка безубыточности: 5 заказов</a:t>
            </a:r>
            <a:endParaRPr lang="en-US" sz="1050"/>
          </a:p>
          <a:p>
            <a:pPr marL="342900" indent="-342900" algn="l">
              <a:lnSpc>
                <a:spcPts val="1400"/>
              </a:lnSpc>
              <a:buSzTx/>
              <a:buChar char="•"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Срок окупаемости: 2–3 месяца</a:t>
            </a:r>
            <a:endParaRPr lang="en-US" sz="1050"/>
          </a:p>
          <a:p>
            <a:pPr marL="342900" indent="-342900" algn="l">
              <a:lnSpc>
                <a:spcPts val="1400"/>
              </a:lnSpc>
              <a:buSzTx/>
              <a:buChar char="•"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Прогноз прибыли за 1-й год: ~858 000 рублей</a:t>
            </a:r>
            <a:endParaRPr lang="en-US" sz="1050"/>
          </a:p>
          <a:p>
            <a:pPr marL="342900" indent="-342900" algn="l">
              <a:lnSpc>
                <a:spcPts val="1400"/>
              </a:lnSpc>
              <a:buSzTx/>
              <a:buChar char="•"/>
            </a:pPr>
            <a:r>
              <a:rPr lang="en-US" sz="10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ROI (возврат инвестиций): 1136%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6481286" y="3294498"/>
            <a:ext cx="5729049" cy="636151"/>
          </a:xfrm>
          <a:prstGeom prst="roundRect">
            <a:avLst>
              <a:gd name="adj" fmla="val 9207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08" y="3483808"/>
            <a:ext cx="174308" cy="13942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34438" y="3417490"/>
            <a:ext cx="5136475" cy="3640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При консервативном сценарии 2 заказа в месяц окупаемость составит 2,5 месяца. При активных продажах 4 заказа в месяц — 6 недель.</a:t>
            </a:r>
            <a:endParaRPr lang="en-US" sz="1050"/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3308271" y="466011"/>
            <a:ext cx="1313140" cy="179665"/>
          </a:xfrm>
          <a:prstGeom prst="roundRect">
            <a:avLst>
              <a:gd name="adj" fmla="val 21381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6851" y="510064"/>
            <a:ext cx="91440" cy="91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14011" y="500301"/>
            <a:ext cx="1038820" cy="1110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СОЦИАЛЬНЫЙ ЭФФЕКТ</a:t>
            </a:r>
            <a:endParaRPr lang="en-US" sz="700"/>
          </a:p>
        </p:txBody>
      </p:sp>
      <p:sp>
        <p:nvSpPr>
          <p:cNvPr id="5" name="Text 2"/>
          <p:cNvSpPr/>
          <p:nvPr/>
        </p:nvSpPr>
        <p:spPr>
          <a:xfrm>
            <a:off x="3308271" y="669369"/>
            <a:ext cx="3539252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Вклад в развитие экономики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3308271" y="1075849"/>
            <a:ext cx="8013859" cy="138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Проект напрямую способствует решению государственных задач импортозамещения в критически важной отрасли — промышленности.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3916085" y="2024420"/>
            <a:ext cx="1406128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40%</a:t>
            </a:r>
            <a:endParaRPr lang="en-US" sz="22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780" y="1309926"/>
            <a:ext cx="1714857" cy="17148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6659" y="3112651"/>
            <a:ext cx="1744980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Потенциал замены импорта</a:t>
            </a:r>
            <a:endParaRPr lang="en-US" sz="1000"/>
          </a:p>
        </p:txBody>
      </p:sp>
      <p:sp>
        <p:nvSpPr>
          <p:cNvPr id="10" name="Text 6"/>
          <p:cNvSpPr/>
          <p:nvPr/>
        </p:nvSpPr>
        <p:spPr>
          <a:xfrm>
            <a:off x="3308271" y="3306961"/>
            <a:ext cx="2621875" cy="138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Для оборудования средней сложности</a:t>
            </a:r>
            <a:endParaRPr lang="en-US" sz="900"/>
          </a:p>
        </p:txBody>
      </p:sp>
      <p:sp>
        <p:nvSpPr>
          <p:cNvPr id="11" name="Text 7"/>
          <p:cNvSpPr/>
          <p:nvPr/>
        </p:nvSpPr>
        <p:spPr>
          <a:xfrm>
            <a:off x="6612017" y="2024420"/>
            <a:ext cx="1406128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75%</a:t>
            </a:r>
            <a:endParaRPr lang="en-US" sz="225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712" y="1309926"/>
            <a:ext cx="1714857" cy="17148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72463" y="3112651"/>
            <a:ext cx="1885355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Сокращение времени простоя</a:t>
            </a:r>
            <a:endParaRPr lang="en-US" sz="1000"/>
          </a:p>
        </p:txBody>
      </p:sp>
      <p:sp>
        <p:nvSpPr>
          <p:cNvPr id="14" name="Text 9"/>
          <p:cNvSpPr/>
          <p:nvPr/>
        </p:nvSpPr>
        <p:spPr>
          <a:xfrm>
            <a:off x="6004203" y="3306961"/>
            <a:ext cx="2621875" cy="138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 3–6 месяцев до 24–48 часов</a:t>
            </a:r>
            <a:endParaRPr lang="en-US" sz="900"/>
          </a:p>
        </p:txBody>
      </p:sp>
      <p:sp>
        <p:nvSpPr>
          <p:cNvPr id="15" name="Text 10"/>
          <p:cNvSpPr/>
          <p:nvPr/>
        </p:nvSpPr>
        <p:spPr>
          <a:xfrm>
            <a:off x="9307949" y="2024420"/>
            <a:ext cx="1406128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85%</a:t>
            </a:r>
            <a:endParaRPr lang="en-US" sz="225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3644" y="1309926"/>
            <a:ext cx="1714857" cy="17148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75934" y="3112651"/>
            <a:ext cx="1270278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Экономия бюджета</a:t>
            </a:r>
            <a:endParaRPr lang="en-US" sz="1000"/>
          </a:p>
        </p:txBody>
      </p:sp>
      <p:sp>
        <p:nvSpPr>
          <p:cNvPr id="18" name="Text 12"/>
          <p:cNvSpPr/>
          <p:nvPr/>
        </p:nvSpPr>
        <p:spPr>
          <a:xfrm>
            <a:off x="8700135" y="3306961"/>
            <a:ext cx="2621994" cy="138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Запчасти в 5–10 раз дешевле импортных</a:t>
            </a:r>
            <a:endParaRPr lang="en-US" sz="90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0468" y="3512463"/>
            <a:ext cx="7149465" cy="390667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83291" y="5255325"/>
            <a:ext cx="1656557" cy="400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 принтер → 10–15 предприятий</a:t>
            </a:r>
            <a:endParaRPr lang="en-US" sz="1250"/>
          </a:p>
        </p:txBody>
      </p:sp>
      <p:sp>
        <p:nvSpPr>
          <p:cNvPr id="21" name="Text 14"/>
          <p:cNvSpPr/>
          <p:nvPr/>
        </p:nvSpPr>
        <p:spPr>
          <a:xfrm>
            <a:off x="8866379" y="5229907"/>
            <a:ext cx="1656557" cy="400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100 принтеров → 1000–1500 заводов</a:t>
            </a:r>
            <a:endParaRPr lang="en-US" sz="1250"/>
          </a:p>
        </p:txBody>
      </p:sp>
      <p:sp>
        <p:nvSpPr>
          <p:cNvPr id="22" name="Text 15"/>
          <p:cNvSpPr/>
          <p:nvPr/>
        </p:nvSpPr>
        <p:spPr>
          <a:xfrm>
            <a:off x="6822917" y="5137876"/>
            <a:ext cx="1656557" cy="601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Покрытие ≈ 2,5% промышленных предприятий</a:t>
            </a:r>
            <a:endParaRPr lang="en-US" sz="1250"/>
          </a:p>
        </p:txBody>
      </p:sp>
      <p:sp>
        <p:nvSpPr>
          <p:cNvPr id="23" name="Text 16"/>
          <p:cNvSpPr/>
          <p:nvPr/>
        </p:nvSpPr>
        <p:spPr>
          <a:xfrm>
            <a:off x="3308271" y="7485817"/>
            <a:ext cx="8013859" cy="2776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Один FDM-принтер способен заменить импортные детали на сумму ~4 млн рублей в год. При масштабировании на 100 принтеров по России — экономия 400 млн рублей валютных средств ежегодно.</a:t>
            </a:r>
            <a:endParaRPr lang="en-US" sz="900"/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198" y="1576507"/>
            <a:ext cx="755333" cy="270153"/>
          </a:xfrm>
          <a:prstGeom prst="roundRect">
            <a:avLst>
              <a:gd name="adj" fmla="val 19754"/>
            </a:avLst>
          </a:prstGeom>
          <a:solidFill>
            <a:srgbClr val="480405"/>
          </a:solidFill>
        </p:spPr>
        <p:txBody>
          <a:bodyPr/>
          <a:lstStyle/>
          <a:p/>
        </p:txBody>
      </p:sp>
      <p:sp>
        <p:nvSpPr>
          <p:cNvPr id="4" name="Text 1"/>
          <p:cNvSpPr/>
          <p:nvPr/>
        </p:nvSpPr>
        <p:spPr>
          <a:xfrm>
            <a:off x="730448" y="1624132"/>
            <a:ext cx="564833" cy="174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ВЫВОДЫ</a:t>
            </a:r>
            <a:endParaRPr lang="en-US" sz="1000"/>
          </a:p>
        </p:txBody>
      </p:sp>
      <p:sp>
        <p:nvSpPr>
          <p:cNvPr id="5" name="Text 2"/>
          <p:cNvSpPr/>
          <p:nvPr/>
        </p:nvSpPr>
        <p:spPr>
          <a:xfrm>
            <a:off x="635198" y="1892379"/>
            <a:ext cx="4455914" cy="441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Результаты исследования</a:t>
            </a:r>
            <a:endParaRPr lang="en-US" sz="2750"/>
          </a:p>
        </p:txBody>
      </p:sp>
      <p:sp>
        <p:nvSpPr>
          <p:cNvPr id="6" name="Text 3"/>
          <p:cNvSpPr/>
          <p:nvPr/>
        </p:nvSpPr>
        <p:spPr>
          <a:xfrm>
            <a:off x="635198" y="2505194"/>
            <a:ext cx="7873603" cy="4371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Проведённое исследование подтвердило гипотезу о высокой экономической эффективности и социальной значимости применения 3D-печати в промышленном секторе.</a:t>
            </a:r>
            <a:endParaRPr lang="en-US" sz="1250"/>
          </a:p>
        </p:txBody>
      </p:sp>
      <p:sp>
        <p:nvSpPr>
          <p:cNvPr id="7" name="Shape 4"/>
          <p:cNvSpPr/>
          <p:nvPr/>
        </p:nvSpPr>
        <p:spPr>
          <a:xfrm>
            <a:off x="635198" y="3071098"/>
            <a:ext cx="7873603" cy="2321481"/>
          </a:xfrm>
          <a:prstGeom prst="roundRect">
            <a:avLst>
              <a:gd name="adj" fmla="val 2873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5"/>
          <p:cNvSpPr/>
          <p:nvPr/>
        </p:nvSpPr>
        <p:spPr>
          <a:xfrm>
            <a:off x="642818" y="3078718"/>
            <a:ext cx="3929182" cy="1262420"/>
          </a:xfrm>
          <a:prstGeom prst="roundRect">
            <a:avLst>
              <a:gd name="adj" fmla="val 5284"/>
            </a:avLst>
          </a:prstGeom>
          <a:solidFill>
            <a:srgbClr val="790709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801529" y="3237428"/>
            <a:ext cx="1764625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Технология готова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801529" y="3526631"/>
            <a:ext cx="3611761" cy="655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FDM-печать из инновационного эксперимента превратилась в полноценный инструмент производства промышленных деталей.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4572000" y="3078718"/>
            <a:ext cx="3929182" cy="1262420"/>
          </a:xfrm>
          <a:prstGeom prst="rect">
            <a:avLst/>
          </a:prstGeom>
          <a:solidFill>
            <a:srgbClr val="790709"/>
          </a:solidFill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4572000" y="3078718"/>
            <a:ext cx="22860" cy="1262420"/>
          </a:xfrm>
          <a:prstGeom prst="roundRect">
            <a:avLst>
              <a:gd name="adj" fmla="val 291803"/>
            </a:avLst>
          </a:prstGeom>
          <a:solidFill>
            <a:srgbClr val="922022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4730710" y="3237428"/>
            <a:ext cx="1967508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Направление выбрано</a:t>
            </a:r>
            <a:endParaRPr lang="en-US" sz="1350"/>
          </a:p>
        </p:txBody>
      </p:sp>
      <p:sp>
        <p:nvSpPr>
          <p:cNvPr id="14" name="Text 11"/>
          <p:cNvSpPr/>
          <p:nvPr/>
        </p:nvSpPr>
        <p:spPr>
          <a:xfrm>
            <a:off x="4730710" y="3526631"/>
            <a:ext cx="3611761" cy="655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Промышленные запчасти — оптимальное сочетание востребованности (10/10), доходности (9/10) и социальной значимости.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642818" y="4341138"/>
            <a:ext cx="7858363" cy="1043821"/>
          </a:xfrm>
          <a:prstGeom prst="rect">
            <a:avLst/>
          </a:prstGeom>
          <a:solidFill>
            <a:srgbClr val="790709"/>
          </a:solidFill>
        </p:spPr>
        <p:txBody>
          <a:bodyPr/>
          <a:lstStyle/>
          <a:p/>
        </p:txBody>
      </p:sp>
      <p:sp>
        <p:nvSpPr>
          <p:cNvPr id="16" name="Shape 13"/>
          <p:cNvSpPr/>
          <p:nvPr/>
        </p:nvSpPr>
        <p:spPr>
          <a:xfrm>
            <a:off x="642818" y="4341138"/>
            <a:ext cx="7858363" cy="22860"/>
          </a:xfrm>
          <a:prstGeom prst="roundRect">
            <a:avLst>
              <a:gd name="adj" fmla="val 291803"/>
            </a:avLst>
          </a:prstGeom>
          <a:solidFill>
            <a:srgbClr val="922022"/>
          </a:solidFill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801529" y="4499848"/>
            <a:ext cx="1764625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Рынок растёт</a:t>
            </a:r>
            <a:endParaRPr lang="en-US" sz="1350"/>
          </a:p>
        </p:txBody>
      </p:sp>
      <p:sp>
        <p:nvSpPr>
          <p:cNvPr id="18" name="Text 15"/>
          <p:cNvSpPr/>
          <p:nvPr/>
        </p:nvSpPr>
        <p:spPr>
          <a:xfrm>
            <a:off x="801529" y="4789051"/>
            <a:ext cx="7540942" cy="4371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Промышленный сегмент достигнет 12,4 млрд руб. к 2026 году (+75% роста), составив 41% всего рынка 3D-печати.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873323" y="5649992"/>
            <a:ext cx="7635478" cy="874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Главный вывод:</a:t>
            </a:r>
            <a:r>
              <a:rPr lang="en-US" sz="125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При наличии знаний, инициативы и стартового капитала в 75 000 рублей возможно создать эффективный инженерный продукт, который приносит прибыль (~858 000 руб. за первый год) и вносит реальный вклад в развитие отечественной промышленности и экономическую безопасность страны.</a:t>
            </a:r>
            <a:endParaRPr lang="en-US" sz="1250"/>
          </a:p>
        </p:txBody>
      </p:sp>
      <p:sp>
        <p:nvSpPr>
          <p:cNvPr id="20" name="Shape 17"/>
          <p:cNvSpPr/>
          <p:nvPr/>
        </p:nvSpPr>
        <p:spPr>
          <a:xfrm>
            <a:off x="635198" y="5521285"/>
            <a:ext cx="22860" cy="1131808"/>
          </a:xfrm>
          <a:prstGeom prst="rect">
            <a:avLst/>
          </a:prstGeom>
          <a:solidFill>
            <a:srgbClr val="F65F62"/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(16:9)</PresentationFormat>
  <Paragraphs>180</Paragraphs>
  <Slides>15</Slides>
  <Notes>15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baseType="lpstr" size="22">
      <vt:lpstr>Arial</vt:lpstr>
      <vt:lpstr>Calibri Light</vt:lpstr>
      <vt:lpstr>Calibri</vt:lpstr>
      <vt:lpstr>Barlow Medium</vt:lpstr>
      <vt:lpstr>Barlow</vt:lpstr>
      <vt:lpstr>Barlow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dcterms:created xsi:type="dcterms:W3CDTF">2026-02-11T19:18:09Z</dcterms:created>
  <dcterms:modified xsi:type="dcterms:W3CDTF">2026-02-11T19:24:58Z</dcterms:modified>
</cp:coreProperties>
</file>